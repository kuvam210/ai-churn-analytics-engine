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drive/14n_Kt37r43i8aSFB3h2mzL7az8bZVWWx?authuser=1#scrollTo=WARx-KryS3DF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1407" y="666393"/>
            <a:ext cx="2205276" cy="326708"/>
          </a:xfrm>
          <a:prstGeom prst="roundRect">
            <a:avLst>
              <a:gd name="adj" fmla="val 18371"/>
            </a:avLst>
          </a:prstGeom>
          <a:noFill/>
          <a:ln w="7620">
            <a:solidFill>
              <a:srgbClr val="0A1929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183" y="758309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10496" y="727591"/>
            <a:ext cx="1761411" cy="204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AF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CUSTOMER INTELLIGENCE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81407" y="1049298"/>
            <a:ext cx="7581186" cy="123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Predicting Customer Churn Before It Happens</a:t>
            </a:r>
            <a:endParaRPr lang="en-US" sz="4850" dirty="0"/>
          </a:p>
        </p:txBody>
      </p:sp>
      <p:sp>
        <p:nvSpPr>
          <p:cNvPr id="7" name="Text 3"/>
          <p:cNvSpPr/>
          <p:nvPr/>
        </p:nvSpPr>
        <p:spPr>
          <a:xfrm>
            <a:off x="781407" y="2492812"/>
            <a:ext cx="7581186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Customer churn silently erodes revenue and stunts growth — but with the right signals, it's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predictable and preventable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07" y="3161824"/>
            <a:ext cx="893088" cy="10716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15108" y="3340418"/>
            <a:ext cx="223277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Data-Driven Analysis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815108" y="3647956"/>
            <a:ext cx="654748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Explore behavioral patterns and usage signals across 250K+ customers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07" y="4233505"/>
            <a:ext cx="893088" cy="10716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15108" y="4412099"/>
            <a:ext cx="258853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Machine Learning Models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815108" y="4719638"/>
            <a:ext cx="654748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XGBoost &amp; Random Forest to identify at-risk customers with precision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407" y="5305187"/>
            <a:ext cx="893088" cy="107168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15108" y="5483781"/>
            <a:ext cx="2232779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Retention Strategies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1815108" y="5791319"/>
            <a:ext cx="654748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Actionable, personalized interventions tiered by customer risk level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781407" y="6535103"/>
            <a:ext cx="7581186" cy="1027986"/>
          </a:xfrm>
          <a:prstGeom prst="roundRect">
            <a:avLst>
              <a:gd name="adj" fmla="val 7298"/>
            </a:avLst>
          </a:prstGeom>
          <a:solidFill>
            <a:srgbClr val="0A1929"/>
          </a:solidFill>
          <a:ln w="22860">
            <a:solidFill>
              <a:srgbClr val="425161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111" y="6450806"/>
            <a:ext cx="214313" cy="214312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2577" y="7433072"/>
            <a:ext cx="214313" cy="21431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72158" y="6825853"/>
            <a:ext cx="699968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"The goal is not to react to churn — it's to predict and prevent it before the customer ever considers leaving."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2348"/>
            <a:ext cx="2016204" cy="307658"/>
          </a:xfrm>
          <a:prstGeom prst="roundRect">
            <a:avLst>
              <a:gd name="adj" fmla="val 18579"/>
            </a:avLst>
          </a:prstGeom>
          <a:noFill/>
          <a:ln w="7620">
            <a:solidFill>
              <a:srgbClr val="0A19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3446" y="778073"/>
            <a:ext cx="136088" cy="136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7519" y="750927"/>
            <a:ext cx="159281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4AF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EXPLORATORY ANALYSIS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3790" y="1050965"/>
            <a:ext cx="663273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Understanding Customer Behavior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93790" y="1667589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 analysis of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249,999 customers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reveals a striking churn reality — and a clear opportunity for proactive intervention.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3790" y="2176701"/>
            <a:ext cx="2578060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Overall Churn Distribution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2817"/>
            <a:ext cx="4533424" cy="444067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38630" y="2049185"/>
            <a:ext cx="6827996" cy="5487948"/>
          </a:xfrm>
          <a:prstGeom prst="roundRect">
            <a:avLst>
              <a:gd name="adj" fmla="val 2232"/>
            </a:avLst>
          </a:prstGeom>
          <a:solidFill>
            <a:srgbClr val="0A1929"/>
          </a:solidFill>
          <a:ln/>
        </p:spPr>
      </p:sp>
      <p:sp>
        <p:nvSpPr>
          <p:cNvPr id="10" name="Text 6"/>
          <p:cNvSpPr/>
          <p:nvPr/>
        </p:nvSpPr>
        <p:spPr>
          <a:xfrm>
            <a:off x="7308652" y="2176701"/>
            <a:ext cx="229933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Churn by Contract Type</a:t>
            </a:r>
            <a:endParaRPr lang="en-US" sz="16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652" y="2532817"/>
            <a:ext cx="4865965" cy="456890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308652" y="6309479"/>
            <a:ext cx="6487954" cy="1084183"/>
          </a:xfrm>
          <a:prstGeom prst="roundRect">
            <a:avLst>
              <a:gd name="adj" fmla="val 6590"/>
            </a:avLst>
          </a:prstGeom>
          <a:solidFill>
            <a:srgbClr val="0F263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673" y="6548438"/>
            <a:ext cx="212646" cy="17002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61340" y="6479500"/>
            <a:ext cx="5765244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💡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pPr algn="l" indent="0" marL="0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 Insight:</a:t>
            </a:r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 significant portion of churn comes from month-to-month contracts — low-commitment customers are at the highest risk and should be prioritized in retention campaigns.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35556"/>
            <a:ext cx="1581745" cy="254437"/>
          </a:xfrm>
          <a:prstGeom prst="roundRect">
            <a:avLst>
              <a:gd name="adj" fmla="val 19166"/>
            </a:avLst>
          </a:prstGeom>
          <a:noFill/>
          <a:ln w="7620">
            <a:solidFill>
              <a:srgbClr val="0A19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6062" y="704731"/>
            <a:ext cx="116086" cy="116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0131" y="686633"/>
            <a:ext cx="1218367" cy="152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D4AF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MODELING APPROACH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81407" y="927021"/>
            <a:ext cx="4981813" cy="36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Building the Prediction Engine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781407" y="1428988"/>
            <a:ext cx="13067586" cy="19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rigorous ML pipeline was built on real behavioral signals — engineered for precision, validated for stability.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1407" y="1723787"/>
            <a:ext cx="4293989" cy="1385768"/>
          </a:xfrm>
          <a:prstGeom prst="roundRect">
            <a:avLst>
              <a:gd name="adj" fmla="val 4399"/>
            </a:avLst>
          </a:prstGeom>
          <a:solidFill>
            <a:srgbClr val="293848"/>
          </a:solidFill>
          <a:ln/>
        </p:spPr>
      </p:sp>
      <p:sp>
        <p:nvSpPr>
          <p:cNvPr id="8" name="Text 5"/>
          <p:cNvSpPr/>
          <p:nvPr/>
        </p:nvSpPr>
        <p:spPr>
          <a:xfrm>
            <a:off x="926425" y="1868805"/>
            <a:ext cx="181415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26425" y="2105858"/>
            <a:ext cx="4003953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Usage frequency &amp; engagement depth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Tenure and contract lifecycle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Support interaction patterns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Billing &amp; payment behavior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68146" y="1723787"/>
            <a:ext cx="4293989" cy="1385768"/>
          </a:xfrm>
          <a:prstGeom prst="roundRect">
            <a:avLst>
              <a:gd name="adj" fmla="val 4399"/>
            </a:avLst>
          </a:prstGeom>
          <a:solidFill>
            <a:srgbClr val="293848"/>
          </a:solidFill>
          <a:ln/>
        </p:spPr>
      </p:sp>
      <p:sp>
        <p:nvSpPr>
          <p:cNvPr id="11" name="Text 8"/>
          <p:cNvSpPr/>
          <p:nvPr/>
        </p:nvSpPr>
        <p:spPr>
          <a:xfrm>
            <a:off x="5313164" y="1868805"/>
            <a:ext cx="181415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Models Evaluated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13164" y="2105858"/>
            <a:ext cx="4003953" cy="635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Logistic Regression (AUC = 0.960)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Random Forest (AUC = 1.000)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XGBoost (AUC = 1.000) 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✅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Best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554885" y="1723787"/>
            <a:ext cx="4293989" cy="1385768"/>
          </a:xfrm>
          <a:prstGeom prst="roundRect">
            <a:avLst>
              <a:gd name="adj" fmla="val 4399"/>
            </a:avLst>
          </a:prstGeom>
          <a:solidFill>
            <a:srgbClr val="293848"/>
          </a:solidFill>
          <a:ln/>
        </p:spPr>
      </p:sp>
      <p:sp>
        <p:nvSpPr>
          <p:cNvPr id="14" name="Text 11"/>
          <p:cNvSpPr/>
          <p:nvPr/>
        </p:nvSpPr>
        <p:spPr>
          <a:xfrm>
            <a:off x="9699903" y="1868805"/>
            <a:ext cx="1814155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699903" y="2105858"/>
            <a:ext cx="4003953" cy="8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ROC-AUC Score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Recall &amp; F1-Score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5-Fold Cross-Validation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Confusion Matrix Analysis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1407" y="3306723"/>
            <a:ext cx="199905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ROC Curve — All Models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3592592"/>
            <a:ext cx="4567952" cy="38970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170902" y="3306723"/>
            <a:ext cx="264890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5-Fold Cross-Validation Stability</a:t>
            </a:r>
            <a:endParaRPr lang="en-US" sz="1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902" y="3592592"/>
            <a:ext cx="3695581" cy="1814989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170902" y="5511998"/>
            <a:ext cx="5685592" cy="665678"/>
          </a:xfrm>
          <a:prstGeom prst="roundRect">
            <a:avLst>
              <a:gd name="adj" fmla="val 9157"/>
            </a:avLst>
          </a:prstGeom>
          <a:solidFill>
            <a:srgbClr val="0F26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920" y="5703451"/>
            <a:ext cx="181332" cy="1450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42271" y="5640943"/>
            <a:ext cx="5069205" cy="380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XGBoost achieved a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Mean AUC = 1.000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with near-zero variance across all 5 folds — confirming exceptional stability and generalization.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611" y="589836"/>
            <a:ext cx="1241227" cy="222171"/>
          </a:xfrm>
          <a:prstGeom prst="roundRect">
            <a:avLst>
              <a:gd name="adj" fmla="val 19511"/>
            </a:avLst>
          </a:prstGeom>
          <a:noFill/>
          <a:ln w="7620">
            <a:solidFill>
              <a:srgbClr val="0A192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9621" y="649367"/>
            <a:ext cx="103108" cy="1031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4283" y="636151"/>
            <a:ext cx="916543" cy="129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D4AF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INTERPRETABILITY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94611" y="841296"/>
            <a:ext cx="3653433" cy="322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Explaining Churn with AI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611" y="1273850"/>
            <a:ext cx="1324117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SHAP values decode the model's decisions — revealing </a:t>
            </a:r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truly drives customers to leave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, not just predicting that they will.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4611" y="1591628"/>
            <a:ext cx="2574250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Risk Tier Segmentation &amp; Precision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1" y="1835348"/>
            <a:ext cx="4641652" cy="190345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94611" y="3821311"/>
            <a:ext cx="7141012" cy="721638"/>
          </a:xfrm>
          <a:prstGeom prst="roundRect">
            <a:avLst>
              <a:gd name="adj" fmla="val 7508"/>
            </a:avLst>
          </a:prstGeom>
          <a:solidFill>
            <a:srgbClr val="0F263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55" y="3991451"/>
            <a:ext cx="161211" cy="1289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3711" y="3926800"/>
            <a:ext cx="6592967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💡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 Insight: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Using SHAP, the model identified low engagement and short tenure as the top churn drivers. Customers are segmented into risk tiers so the business can prioritize retention efforts with 100% precision on High-Risk customers.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8064937" y="1518285"/>
            <a:ext cx="5971223" cy="6121479"/>
          </a:xfrm>
          <a:prstGeom prst="roundRect">
            <a:avLst>
              <a:gd name="adj" fmla="val 1556"/>
            </a:avLst>
          </a:prstGeom>
          <a:solidFill>
            <a:srgbClr val="0A1929"/>
          </a:solidFill>
          <a:ln/>
        </p:spPr>
      </p:sp>
      <p:sp>
        <p:nvSpPr>
          <p:cNvPr id="13" name="Text 8"/>
          <p:cNvSpPr/>
          <p:nvPr/>
        </p:nvSpPr>
        <p:spPr>
          <a:xfrm>
            <a:off x="8193881" y="1591628"/>
            <a:ext cx="1921431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XGBoost Confusion Matrix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881" y="1835348"/>
            <a:ext cx="3713559" cy="34807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93768" y="5463064"/>
            <a:ext cx="37135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28,625</a:t>
            </a:r>
            <a:endParaRPr lang="en-US" sz="3350" dirty="0"/>
          </a:p>
        </p:txBody>
      </p:sp>
      <p:sp>
        <p:nvSpPr>
          <p:cNvPr id="16" name="Text 10"/>
          <p:cNvSpPr/>
          <p:nvPr/>
        </p:nvSpPr>
        <p:spPr>
          <a:xfrm>
            <a:off x="10244257" y="6008132"/>
            <a:ext cx="1612583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Correctly Retained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8193881" y="6242685"/>
            <a:ext cx="57133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True negatives — customers correctly predicted to stay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193768" y="6615708"/>
            <a:ext cx="3713559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50"/>
              </a:lnSpc>
              <a:buNone/>
            </a:pPr>
            <a:r>
              <a:rPr lang="en-US" sz="33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37,486</a:t>
            </a:r>
            <a:endParaRPr lang="en-US" sz="3350" dirty="0"/>
          </a:p>
        </p:txBody>
      </p:sp>
      <p:sp>
        <p:nvSpPr>
          <p:cNvPr id="19" name="Text 13"/>
          <p:cNvSpPr/>
          <p:nvPr/>
        </p:nvSpPr>
        <p:spPr>
          <a:xfrm>
            <a:off x="10244257" y="7160776"/>
            <a:ext cx="1612583" cy="161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Churn Caught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8193881" y="7395329"/>
            <a:ext cx="57133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True positives — churned customers correctly identified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679847"/>
            <a:ext cx="1191935" cy="333018"/>
          </a:xfrm>
          <a:prstGeom prst="roundRect">
            <a:avLst>
              <a:gd name="adj" fmla="val 18309"/>
            </a:avLst>
          </a:prstGeom>
          <a:noFill/>
          <a:ln w="7620">
            <a:solidFill>
              <a:srgbClr val="0A1929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233" y="773787"/>
            <a:ext cx="145137" cy="1451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7879" y="741878"/>
            <a:ext cx="74140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4AF3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93790" y="1070848"/>
            <a:ext cx="7556421" cy="1252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490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Churn Prediction Demo</a:t>
            </a:r>
            <a:endParaRPr lang="en-US" sz="4900" dirty="0"/>
          </a:p>
        </p:txBody>
      </p:sp>
      <p:sp>
        <p:nvSpPr>
          <p:cNvPr id="7" name="Text 3"/>
          <p:cNvSpPr/>
          <p:nvPr/>
        </p:nvSpPr>
        <p:spPr>
          <a:xfrm>
            <a:off x="793790" y="2540556"/>
            <a:ext cx="75564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See the model in action — predicting churn risk and generating retention recommendations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real time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26237"/>
            <a:ext cx="907256" cy="11991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46183" y="3407688"/>
            <a:ext cx="27483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AI-Powered Churn Advisor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846183" y="3721537"/>
            <a:ext cx="650402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 intelligent assistant that evaluates customer profiles and flags risk in seconds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425434"/>
            <a:ext cx="907256" cy="10887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46183" y="4606885"/>
            <a:ext cx="2291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Predictions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846183" y="4920734"/>
            <a:ext cx="6504027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Input customer data live and receive an instant churn probability score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514142"/>
            <a:ext cx="907256" cy="11991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46183" y="5695593"/>
            <a:ext cx="431696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F4F4F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Personalized Retention Recommendations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1846183" y="6009442"/>
            <a:ext cx="6504027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4F4F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Tailored actions suggested for each risk tier — from loyalty offers to proactive outreach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793790" y="6876574"/>
            <a:ext cx="7556421" cy="673060"/>
          </a:xfrm>
          <a:prstGeom prst="roundRect">
            <a:avLst>
              <a:gd name="adj" fmla="val 11324"/>
            </a:avLst>
          </a:prstGeom>
          <a:solidFill>
            <a:srgbClr val="0F263D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241" y="7135058"/>
            <a:ext cx="226814" cy="18145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83506" y="7067074"/>
            <a:ext cx="678525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🚀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Switch to live demo now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— </a:t>
            </a:r>
            <a:pPr algn="l" indent="0" marL="0">
              <a:lnSpc>
                <a:spcPts val="2050"/>
              </a:lnSpc>
              <a:buNone/>
            </a:pPr>
            <a:r>
              <a:rPr lang="en-US" sz="1400" u="sng" dirty="0">
                <a:solidFill>
                  <a:srgbClr val="D4AF37"/>
                </a:solidFill>
                <a:latin typeface="Rubik" pitchFamily="34" charset="0"/>
                <a:ea typeface="Rubik" pitchFamily="34" charset="-122"/>
                <a:cs typeface="Rubik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Google Colab Notebook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2026-04-12T07:35:54Z</dcterms:created>
  <dcterms:modified xsi:type="dcterms:W3CDTF">2026-04-12T07:35:54Z</dcterms:modified>
</cp:coreProperties>
</file>